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002970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3291840"/>
            <a:ext cx="4206240" cy="4206240"/>
          </a:xfrm>
          <a:prstGeom prst="ellipse">
            <a:avLst/>
          </a:prstGeom>
          <a:solidFill>
            <a:srgbClr val="008FC4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5212080"/>
            <a:ext cx="4754880" cy="3108960"/>
          </a:xfrm>
          <a:prstGeom prst="roundRect">
            <a:avLst>
              <a:gd name="adj" fmla="val 11765"/>
            </a:avLst>
          </a:prstGeom>
          <a:solidFill>
            <a:srgbClr val="00297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9646920" y="1051560"/>
            <a:ext cx="2468880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66928"/>
            <a:ext cx="357530" cy="357530"/>
          </a:xfrm>
          <a:prstGeom prst="roundRect">
            <a:avLst>
              <a:gd name="adj" fmla="val 20588"/>
            </a:avLst>
          </a:prstGeom>
          <a:solidFill>
            <a:srgbClr val="00BAF2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545897"/>
            <a:ext cx="35753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1840" dirty="0"/>
          </a:p>
        </p:txBody>
      </p:sp>
      <p:sp>
        <p:nvSpPr>
          <p:cNvPr id="8" name="Text 5"/>
          <p:cNvSpPr/>
          <p:nvPr/>
        </p:nvSpPr>
        <p:spPr>
          <a:xfrm>
            <a:off x="987552" y="503834"/>
            <a:ext cx="1682496" cy="483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Paytm</a:t>
            </a:r>
            <a:endParaRPr lang="en-US" sz="1955" dirty="0"/>
          </a:p>
        </p:txBody>
      </p:sp>
      <p:sp>
        <p:nvSpPr>
          <p:cNvPr id="9" name="Shape 6"/>
          <p:cNvSpPr/>
          <p:nvPr/>
        </p:nvSpPr>
        <p:spPr>
          <a:xfrm>
            <a:off x="8942832" y="603504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12345A"/>
          </a:solidFill>
          <a:ln/>
        </p:spPr>
      </p:sp>
      <p:sp>
        <p:nvSpPr>
          <p:cNvPr id="10" name="Text 7"/>
          <p:cNvSpPr/>
          <p:nvPr/>
        </p:nvSpPr>
        <p:spPr>
          <a:xfrm>
            <a:off x="8942832" y="60350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MOCK CAMPAIGN · FICTIONAL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6928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PAYTM  ·  GO-TO-MARKET CAMPAIGN BRIEF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9496" y="2542032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Velocity</a:t>
            </a:r>
            <a:pPr algn="l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API</a:t>
            </a:r>
            <a:endParaRPr lang="en-US" sz="7000" dirty="0"/>
          </a:p>
        </p:txBody>
      </p:sp>
      <p:sp>
        <p:nvSpPr>
          <p:cNvPr id="13" name="Text 10"/>
          <p:cNvSpPr/>
          <p:nvPr/>
        </p:nvSpPr>
        <p:spPr>
          <a:xfrm>
            <a:off x="566928" y="39136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AF6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UPI, at the speed of intent.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66928" y="449884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ultra-fast, drop-in UPI payments API for e-commerce platforms and online businesses.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" y="5486400"/>
            <a:ext cx="1751076" cy="51206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5486400"/>
            <a:ext cx="17510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30-Day Flight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592324" y="5486400"/>
            <a:ext cx="2171700" cy="51206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92324" y="5486400"/>
            <a:ext cx="21717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₹30,00,000 Budget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38344" y="5486400"/>
            <a:ext cx="3643884" cy="51206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38344" y="5486400"/>
            <a:ext cx="36438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· LinkedIn · Google Search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66928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product name: Paytm Velocity API   (client working name: “Paytm Swift-UPI API”)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002970"/>
          </a:solidFill>
          <a:ln/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00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54864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99616" y="457200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Campaign at a Glance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554480"/>
            <a:ext cx="5029200" cy="4617720"/>
          </a:xfrm>
          <a:prstGeom prst="rect">
            <a:avLst/>
          </a:prstGeom>
          <a:solidFill>
            <a:srgbClr val="002970"/>
          </a:solidFill>
          <a:ln/>
          <a:effectLst>
            <a:outerShdw sx="100000" sy="100000" kx="0" ky="0" algn="bl" rotWithShape="0" blurRad="114300" dist="38100" dir="5400000">
              <a:srgbClr val="0A254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" y="1554480"/>
            <a:ext cx="109728" cy="4617720"/>
          </a:xfrm>
          <a:prstGeom prst="rect">
            <a:avLst/>
          </a:prstGeom>
          <a:solidFill>
            <a:srgbClr val="00BAF2"/>
          </a:solidFill>
          <a:ln/>
        </p:spPr>
      </p:sp>
      <p:sp>
        <p:nvSpPr>
          <p:cNvPr id="8" name="Text 5"/>
          <p:cNvSpPr/>
          <p:nvPr/>
        </p:nvSpPr>
        <p:spPr>
          <a:xfrm>
            <a:off x="932688" y="18105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32688" y="21214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Paytm Velocity API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932688" y="2615184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developer-first UPI payments API that drops into any checkout in hours. One-tap collect, 0.8s confirmation, signed webhooks, 99.99% uptime, T+1 settlement.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32688" y="38221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OBJECTIVE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32688" y="411480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qualified developer &amp; merchant sign-ups to the sandbox, and a pipeline of integrated, live-processing merchants.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32688" y="52120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goal:  </a:t>
            </a:r>
            <a:pPr indent="0" marL="0">
              <a:buNone/>
            </a:pPr>
            <a:r>
              <a:rPr lang="en-US" sz="125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→ Click → Sandbox sign-up → Integration → Go-live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89320" y="155448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89320" y="1554480"/>
            <a:ext cx="2743200" cy="91440"/>
          </a:xfrm>
          <a:prstGeom prst="rect">
            <a:avLst/>
          </a:prstGeom>
          <a:solidFill>
            <a:srgbClr val="008FC4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1847088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08776" y="1792224"/>
            <a:ext cx="2240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₹30L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6208776" y="2505456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media budget (aggressive)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970264" y="155448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970264" y="1554480"/>
            <a:ext cx="2743200" cy="91440"/>
          </a:xfrm>
          <a:prstGeom prst="rect">
            <a:avLst/>
          </a:prstGeom>
          <a:solidFill>
            <a:srgbClr val="00BAF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536" y="1847088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189720" y="1792224"/>
            <a:ext cx="2240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9189720" y="2505456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Meta · LinkedIn · Google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989320" y="3364992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989320" y="3364992"/>
            <a:ext cx="2743200" cy="91440"/>
          </a:xfrm>
          <a:prstGeom prst="rect">
            <a:avLst/>
          </a:prstGeom>
          <a:solidFill>
            <a:srgbClr val="00297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3657600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208776" y="3602736"/>
            <a:ext cx="2240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3000" dirty="0"/>
          </a:p>
        </p:txBody>
      </p:sp>
      <p:sp>
        <p:nvSpPr>
          <p:cNvPr id="28" name="Text 22"/>
          <p:cNvSpPr/>
          <p:nvPr/>
        </p:nvSpPr>
        <p:spPr>
          <a:xfrm>
            <a:off x="6208776" y="4315968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flight, full-funnel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8970264" y="3364992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970264" y="3364992"/>
            <a:ext cx="2743200" cy="91440"/>
          </a:xfrm>
          <a:prstGeom prst="rect">
            <a:avLst/>
          </a:prstGeom>
          <a:solidFill>
            <a:srgbClr val="1FB271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6536" y="3657600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189720" y="3602736"/>
            <a:ext cx="2240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3.9M</a:t>
            </a:r>
            <a:endParaRPr lang="en-US" sz="3000" dirty="0"/>
          </a:p>
        </p:txBody>
      </p:sp>
      <p:sp>
        <p:nvSpPr>
          <p:cNvPr id="33" name="Text 26"/>
          <p:cNvSpPr/>
          <p:nvPr/>
        </p:nvSpPr>
        <p:spPr>
          <a:xfrm>
            <a:off x="9189720" y="4315968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reach (impressions)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5989320" y="5248656"/>
            <a:ext cx="5724144" cy="987552"/>
          </a:xfrm>
          <a:prstGeom prst="rect">
            <a:avLst/>
          </a:prstGeom>
          <a:solidFill>
            <a:srgbClr val="EAF6FE"/>
          </a:solidFill>
          <a:ln w="12700">
            <a:solidFill>
              <a:srgbClr val="D6E6F4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5504688"/>
            <a:ext cx="493776" cy="49377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949440" y="5248656"/>
            <a:ext cx="45354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online business owners, e-commerce founders, freelance developers &amp; tech leads who choose the payment stack — across 3 sharp segments (next).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Velocity API  ·  Mock B2B Campaign Brief</a:t>
            </a:r>
            <a:pPr algn="l" indent="0" marL="0">
              <a:buNone/>
            </a:pPr>
            <a:r>
              <a:rPr lang="en-US" sz="850" i="1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(fictional product — illustrative figures)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7E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002970"/>
          </a:solidFill>
          <a:ln/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54864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99616" y="457200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Audience Research — Three B2B Segments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18–60 band splits into three decision-maker personas with very different triggers, vocabularies and fears.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83080"/>
            <a:ext cx="3441192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1783080"/>
            <a:ext cx="3441192" cy="1078992"/>
          </a:xfrm>
          <a:prstGeom prst="rect">
            <a:avLst/>
          </a:prstGeom>
          <a:solidFill>
            <a:srgbClr val="008FC4"/>
          </a:solidFill>
          <a:ln/>
        </p:spPr>
      </p:sp>
      <p:sp>
        <p:nvSpPr>
          <p:cNvPr id="9" name="Shape 6"/>
          <p:cNvSpPr/>
          <p:nvPr/>
        </p:nvSpPr>
        <p:spPr>
          <a:xfrm>
            <a:off x="841248" y="2029968"/>
            <a:ext cx="585216" cy="585216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139696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36192" y="1947672"/>
            <a:ext cx="2343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Conversion-Obsessed Founder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41248" y="2953512"/>
            <a:ext cx="2983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F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 22–35 · D2C &amp; app-first startups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41248" y="3264408"/>
            <a:ext cx="2938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Gen-Z / millennial founders of D2C brands, marketplaces and subscription apps. Bootstrapped to Series-A, growth is everything.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41248" y="4325112"/>
            <a:ext cx="2983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6B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PAIN POINTS WITH TODAY'S GATEWAYS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59536" y="4636008"/>
            <a:ext cx="2910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Redirect-heavy checkout abandons ~1 in 5 carts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High, opaque MDR eats thin D2C margins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payment success rates at peak traffic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66928" y="5650992"/>
            <a:ext cx="3441192" cy="566928"/>
          </a:xfrm>
          <a:prstGeom prst="rect">
            <a:avLst/>
          </a:prstGeom>
          <a:solidFill>
            <a:srgbClr val="EAF6FE"/>
          </a:solidFill>
          <a:ln/>
        </p:spPr>
      </p:sp>
      <p:sp>
        <p:nvSpPr>
          <p:cNvPr id="17" name="Text 13"/>
          <p:cNvSpPr/>
          <p:nvPr/>
        </p:nvSpPr>
        <p:spPr>
          <a:xfrm>
            <a:off x="841248" y="5650992"/>
            <a:ext cx="2983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Buys on: checkout conversion + speed to integrate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373880" y="1783080"/>
            <a:ext cx="3441192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373880" y="1783080"/>
            <a:ext cx="3441192" cy="1078992"/>
          </a:xfrm>
          <a:prstGeom prst="rect">
            <a:avLst/>
          </a:prstGeom>
          <a:solidFill>
            <a:srgbClr val="002970"/>
          </a:solidFill>
          <a:ln/>
        </p:spPr>
      </p:sp>
      <p:sp>
        <p:nvSpPr>
          <p:cNvPr id="20" name="Shape 16"/>
          <p:cNvSpPr/>
          <p:nvPr/>
        </p:nvSpPr>
        <p:spPr>
          <a:xfrm>
            <a:off x="4648200" y="2029968"/>
            <a:ext cx="585216" cy="585216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928" y="2139696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43144" y="1947672"/>
            <a:ext cx="2343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Pragmatic Tech Lead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4648200" y="2953512"/>
            <a:ext cx="2983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 28–45 · CTOs, tech leads, freelance devs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648200" y="3264408"/>
            <a:ext cx="2938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who own or build the payment layer for their platform or for clients — growth-stage SaaS, agencies, marketplaces.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648200" y="4325112"/>
            <a:ext cx="2983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6B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PAIN POINTS WITH TODAY'S GATEWAYS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666488" y="4636008"/>
            <a:ext cx="2910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docs &amp; flaky sandbox slow integration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that miss / aren’t idempotent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 downtime spikes; slow dev support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373880" y="5650992"/>
            <a:ext cx="3441192" cy="566928"/>
          </a:xfrm>
          <a:prstGeom prst="rect">
            <a:avLst/>
          </a:prstGeom>
          <a:solidFill>
            <a:srgbClr val="EAF6FE"/>
          </a:solidFill>
          <a:ln/>
        </p:spPr>
      </p:sp>
      <p:sp>
        <p:nvSpPr>
          <p:cNvPr id="28" name="Text 23"/>
          <p:cNvSpPr/>
          <p:nvPr/>
        </p:nvSpPr>
        <p:spPr>
          <a:xfrm>
            <a:off x="4648200" y="5650992"/>
            <a:ext cx="2983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Buys on: docs quality, uptime/SLA, latency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8180832" y="1783080"/>
            <a:ext cx="3441192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180832" y="1783080"/>
            <a:ext cx="3441192" cy="1078992"/>
          </a:xfrm>
          <a:prstGeom prst="rect">
            <a:avLst/>
          </a:prstGeom>
          <a:solidFill>
            <a:srgbClr val="1FB271"/>
          </a:solidFill>
          <a:ln/>
        </p:spPr>
      </p:sp>
      <p:sp>
        <p:nvSpPr>
          <p:cNvPr id="31" name="Shape 26"/>
          <p:cNvSpPr/>
          <p:nvPr/>
        </p:nvSpPr>
        <p:spPr>
          <a:xfrm>
            <a:off x="8455152" y="2029968"/>
            <a:ext cx="585216" cy="585216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4880" y="2139696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150096" y="1947672"/>
            <a:ext cx="2343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Digitizing Retail Owner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8455152" y="2953512"/>
            <a:ext cx="2983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B2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 40–60 · Traditional SMB going online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8455152" y="3264408"/>
            <a:ext cx="2938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Gen-X offline retailers, distributors and service businesses launching a website or online store for the first time.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8455152" y="4325112"/>
            <a:ext cx="2983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6B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PAIN POINTS WITH TODAY'S GATEWAYS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8473440" y="4636008"/>
            <a:ext cx="2910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Intimidated by anything that looks ‘technical’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failed txns &amp; messy reconciliation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T+2/T+3 settlement strains cash flow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8180832" y="5650992"/>
            <a:ext cx="3441192" cy="566928"/>
          </a:xfrm>
          <a:prstGeom prst="rect">
            <a:avLst/>
          </a:prstGeom>
          <a:solidFill>
            <a:srgbClr val="EAF6FE"/>
          </a:solidFill>
          <a:ln/>
        </p:spPr>
      </p:sp>
      <p:sp>
        <p:nvSpPr>
          <p:cNvPr id="39" name="Text 33"/>
          <p:cNvSpPr/>
          <p:nvPr/>
        </p:nvSpPr>
        <p:spPr>
          <a:xfrm>
            <a:off x="8455152" y="5650992"/>
            <a:ext cx="2983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Buys on: ease, trust, T+1 settlement, support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Velocity API  ·  Mock B2B Campaign Brief</a:t>
            </a:r>
            <a:pPr algn="l" indent="0" marL="0">
              <a:buNone/>
            </a:pPr>
            <a:r>
              <a:rPr lang="en-US" sz="850" i="1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(fictional product — illustrative figures)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7E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002970"/>
          </a:solidFill>
          <a:ln/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54864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99616" y="457200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Shared Enemy — and How Velocity Wins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5096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572000"/>
                <a:gridCol w="4014216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Sharpest pain with current online payment solutions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Paytm Velocity fixes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70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29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Conversion-Obsessed Founder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Redirect-heavy checkout kills ~20% of carts; flat MDR eats thin D2C margins; success rates dip at peak.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5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In-context one-tap UPI · 0.8s confirmation · higher auth success — checkout that converts.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29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Pragmatic Tech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 docs, a flaky sandbox and webhooks that miss turn a ‘quick integration’ into a multi-sprint debug.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5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docs + true sandbox · signed, idempotent webhooks with retries · 99.99% uptime, &lt;120ms.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29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Digitizing Retail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technical to set up; failed transactions and messy reconciliation; T+2/T+3 settlement squeezes cash flow.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5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1-click Shopify/Woo plugin · auto-reconciliation · T+1 settlement · regional-language support.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66928" y="546811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B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UNIVERSAL PAINS THIS CAMPAIGN ATTACKS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66928" y="5779008"/>
            <a:ext cx="2558034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6B5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916168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69848" y="5779008"/>
            <a:ext cx="19636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success rates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3399282" y="5779008"/>
            <a:ext cx="2558034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6B5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74" y="5916168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902202" y="5779008"/>
            <a:ext cx="19636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Slow checkout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6231636" y="5779008"/>
            <a:ext cx="2558034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6B5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228" y="5916168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734556" y="5779008"/>
            <a:ext cx="19636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Opaque fees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9063990" y="5779008"/>
            <a:ext cx="2558034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6B5E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8582" y="5916168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566910" y="5779008"/>
            <a:ext cx="19636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Delayed settlement</a:t>
            </a:r>
            <a:endParaRPr lang="en-US" sz="1150" dirty="0"/>
          </a:p>
        </p:txBody>
      </p:sp>
      <p:sp>
        <p:nvSpPr>
          <p:cNvPr id="20" name="Text 1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Velocity API  ·  Mock B2B Campaign Brief</a:t>
            </a:r>
            <a:pPr algn="l" indent="0" marL="0">
              <a:buNone/>
            </a:pPr>
            <a:r>
              <a:rPr lang="en-US" sz="850" i="1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(fictional product — illustrative figures)</a:t>
            </a:r>
            <a:endParaRPr lang="en-US" sz="850" dirty="0"/>
          </a:p>
        </p:txBody>
      </p:sp>
      <p:sp>
        <p:nvSpPr>
          <p:cNvPr id="21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7E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002970"/>
          </a:solidFill>
          <a:ln/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54864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99616" y="457200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 Creatives — The Brand Kit for Canva/Figma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417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COLOR PALETTE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" y="1783080"/>
            <a:ext cx="1170432" cy="1298448"/>
          </a:xfrm>
          <a:prstGeom prst="rect">
            <a:avLst/>
          </a:prstGeom>
          <a:solidFill>
            <a:srgbClr val="002970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" y="23317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Paytm Navy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" y="267004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#002970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901952" y="1783080"/>
            <a:ext cx="1170432" cy="1298448"/>
          </a:xfrm>
          <a:prstGeom prst="rect">
            <a:avLst/>
          </a:prstGeom>
          <a:solidFill>
            <a:srgbClr val="00BAF2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901952" y="23317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Paytm Cyan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901952" y="267004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2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#00BAF2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36976" y="1783080"/>
            <a:ext cx="1170432" cy="1298448"/>
          </a:xfrm>
          <a:prstGeom prst="rect">
            <a:avLst/>
          </a:prstGeom>
          <a:solidFill>
            <a:srgbClr val="EAF6FE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236976" y="23317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Wash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236976" y="267004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2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#EAF6FE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0" y="1783080"/>
            <a:ext cx="1170432" cy="1298448"/>
          </a:xfrm>
          <a:prstGeom prst="rect">
            <a:avLst/>
          </a:prstGeom>
          <a:solidFill>
            <a:srgbClr val="1FB271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572000" y="23317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 Green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0" y="267004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#1FB271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907024" y="1783080"/>
            <a:ext cx="1170432" cy="1298448"/>
          </a:xfrm>
          <a:prstGeom prst="rect">
            <a:avLst/>
          </a:prstGeom>
          <a:solidFill>
            <a:srgbClr val="16263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907024" y="23317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Ink / Body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07024" y="267004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#16263F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66928" y="3200400"/>
            <a:ext cx="635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Navy as the dominant ground (~60%), Cyan as the single sharp accent, Green only for success/confirmation moments.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66928" y="3840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TYPOGRAPHY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66928" y="4160520"/>
            <a:ext cx="6355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41248" y="431596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Montserrat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&amp; numbers — bold, geometric, confident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841248" y="513892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/ Calibri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&amp; captions — clean, highly legible at small sizes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223760" y="1417320"/>
            <a:ext cx="4398264" cy="4617720"/>
          </a:xfrm>
          <a:prstGeom prst="rect">
            <a:avLst/>
          </a:prstGeom>
          <a:solidFill>
            <a:srgbClr val="002970"/>
          </a:solidFill>
          <a:ln/>
          <a:effectLst>
            <a:outerShdw sx="100000" sy="100000" kx="0" ky="0" algn="bl" rotWithShape="0" blurRad="114300" dist="38100" dir="5400000">
              <a:srgbClr val="0A2540">
                <a:alpha val="1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223760" y="1417320"/>
            <a:ext cx="4398264" cy="109728"/>
          </a:xfrm>
          <a:prstGeom prst="rect">
            <a:avLst/>
          </a:prstGeom>
          <a:solidFill>
            <a:srgbClr val="00BAF2"/>
          </a:solidFill>
          <a:ln/>
        </p:spPr>
      </p:sp>
      <p:sp>
        <p:nvSpPr>
          <p:cNvPr id="29" name="Text 26"/>
          <p:cNvSpPr/>
          <p:nvPr/>
        </p:nvSpPr>
        <p:spPr>
          <a:xfrm>
            <a:off x="7543800" y="1691640"/>
            <a:ext cx="3758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MOTIF &amp; RULES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543800" y="2148840"/>
            <a:ext cx="457200" cy="457200"/>
          </a:xfrm>
          <a:prstGeom prst="ellipse">
            <a:avLst/>
          </a:prstGeom>
          <a:solidFill>
            <a:srgbClr val="008FC4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4" y="2249424"/>
            <a:ext cx="256032" cy="25603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8138160" y="2093976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motif — bolt / motion lines / a stopwatch reading 0.8s on every concept.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7543800" y="2862072"/>
            <a:ext cx="457200" cy="457200"/>
          </a:xfrm>
          <a:prstGeom prst="ellipse">
            <a:avLst/>
          </a:prstGeom>
          <a:solidFill>
            <a:srgbClr val="008FC4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4" y="2962656"/>
            <a:ext cx="256032" cy="25603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138160" y="2807208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success tick is the hero moment — show the ‘paid’ state, not the form.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7543800" y="3575304"/>
            <a:ext cx="457200" cy="457200"/>
          </a:xfrm>
          <a:prstGeom prst="ellipse">
            <a:avLst/>
          </a:prstGeom>
          <a:solidFill>
            <a:srgbClr val="008FC4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3675888"/>
            <a:ext cx="256032" cy="25603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8138160" y="352044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UI: show a phone or checkout with a one-tap UPI screen, never abstract clip-art.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7543800" y="4288536"/>
            <a:ext cx="457200" cy="457200"/>
          </a:xfrm>
          <a:prstGeom prst="ellipse">
            <a:avLst/>
          </a:prstGeom>
          <a:solidFill>
            <a:srgbClr val="008FC4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4384" y="4389120"/>
            <a:ext cx="256032" cy="25603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138160" y="423367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corners (12–16px), generous whitespace, logo top-left, CTA pill bottom.</a:t>
            </a:r>
            <a:endParaRPr lang="en-US" sz="1150" dirty="0"/>
          </a:p>
        </p:txBody>
      </p:sp>
      <p:sp>
        <p:nvSpPr>
          <p:cNvPr id="42" name="Shape 35"/>
          <p:cNvSpPr/>
          <p:nvPr/>
        </p:nvSpPr>
        <p:spPr>
          <a:xfrm>
            <a:off x="7223760" y="5285232"/>
            <a:ext cx="4398264" cy="74980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43" name="Text 36"/>
          <p:cNvSpPr/>
          <p:nvPr/>
        </p:nvSpPr>
        <p:spPr>
          <a:xfrm>
            <a:off x="7543800" y="5285232"/>
            <a:ext cx="3758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DON'T:  </a:t>
            </a:r>
            <a:pPr indent="0" marL="0">
              <a:buNone/>
            </a:pPr>
            <a:r>
              <a:rPr lang="en-US" sz="10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muddier than navy→cyan, stocky ‘handshake’ photos, more than one accent colour, tiny body text.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Velocity API  ·  Mock B2B Campaign Brief</a:t>
            </a:r>
            <a:pPr algn="l" indent="0" marL="0">
              <a:buNone/>
            </a:pPr>
            <a:r>
              <a:rPr lang="en-US" sz="850" i="1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(fictional product — illustrative figures)</a:t>
            </a:r>
            <a:endParaRPr lang="en-US" sz="850" dirty="0"/>
          </a:p>
        </p:txBody>
      </p:sp>
      <p:sp>
        <p:nvSpPr>
          <p:cNvPr id="45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7E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002970"/>
          </a:solidFill>
          <a:ln/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54864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99616" y="457200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 1 — “Speed = Conversion”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1499616" y="12984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02970"/>
          </a:solidFill>
          <a:ln/>
        </p:spPr>
      </p:sp>
      <p:sp>
        <p:nvSpPr>
          <p:cNvPr id="7" name="Text 4"/>
          <p:cNvSpPr/>
          <p:nvPr/>
        </p:nvSpPr>
        <p:spPr>
          <a:xfrm>
            <a:off x="1499616" y="1298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1080×1080 (Meta) + 1200×627 (LI)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57016" y="129844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AF6FE"/>
          </a:solidFill>
          <a:ln/>
        </p:spPr>
      </p:sp>
      <p:sp>
        <p:nvSpPr>
          <p:cNvPr id="9" name="Text 6"/>
          <p:cNvSpPr/>
          <p:nvPr/>
        </p:nvSpPr>
        <p:spPr>
          <a:xfrm>
            <a:off x="3557016" y="12984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1874520"/>
            <a:ext cx="4023360" cy="4297680"/>
          </a:xfrm>
          <a:prstGeom prst="rect">
            <a:avLst/>
          </a:prstGeom>
          <a:solidFill>
            <a:srgbClr val="EAF6FE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4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" y="1874520"/>
            <a:ext cx="4023360" cy="2880360"/>
          </a:xfrm>
          <a:prstGeom prst="rect">
            <a:avLst/>
          </a:prstGeom>
          <a:solidFill>
            <a:srgbClr val="00BAF2">
              <a:alpha val="26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4754880"/>
            <a:ext cx="4023360" cy="1417320"/>
          </a:xfrm>
          <a:prstGeom prst="rect">
            <a:avLst/>
          </a:prstGeom>
          <a:solidFill>
            <a:srgbClr val="002970"/>
          </a:solidFill>
          <a:ln/>
        </p:spPr>
      </p:sp>
      <p:sp>
        <p:nvSpPr>
          <p:cNvPr id="13" name="Shape 10"/>
          <p:cNvSpPr/>
          <p:nvPr/>
        </p:nvSpPr>
        <p:spPr>
          <a:xfrm>
            <a:off x="795528" y="2093976"/>
            <a:ext cx="264262" cy="264262"/>
          </a:xfrm>
          <a:prstGeom prst="roundRect">
            <a:avLst>
              <a:gd name="adj" fmla="val 20588"/>
            </a:avLst>
          </a:prstGeom>
          <a:solidFill>
            <a:srgbClr val="00BAF2"/>
          </a:solidFill>
          <a:ln/>
        </p:spPr>
      </p:sp>
      <p:sp>
        <p:nvSpPr>
          <p:cNvPr id="14" name="Text 11"/>
          <p:cNvSpPr/>
          <p:nvPr/>
        </p:nvSpPr>
        <p:spPr>
          <a:xfrm>
            <a:off x="795528" y="2078431"/>
            <a:ext cx="264262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1360" dirty="0"/>
          </a:p>
        </p:txBody>
      </p:sp>
      <p:sp>
        <p:nvSpPr>
          <p:cNvPr id="15" name="Text 12"/>
          <p:cNvSpPr/>
          <p:nvPr/>
        </p:nvSpPr>
        <p:spPr>
          <a:xfrm>
            <a:off x="1106424" y="2047342"/>
            <a:ext cx="1243584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45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Paytm</a:t>
            </a:r>
            <a:endParaRPr lang="en-US" sz="1445" dirty="0"/>
          </a:p>
        </p:txBody>
      </p:sp>
      <p:sp>
        <p:nvSpPr>
          <p:cNvPr id="16" name="Text 13"/>
          <p:cNvSpPr/>
          <p:nvPr/>
        </p:nvSpPr>
        <p:spPr>
          <a:xfrm>
            <a:off x="795528" y="27432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0.8s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822960" y="34655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F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checkout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953512" y="2587752"/>
            <a:ext cx="1325880" cy="187452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25400">
            <a:solidFill>
              <a:srgbClr val="002970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24428" y="2971800"/>
            <a:ext cx="384048" cy="384048"/>
          </a:xfrm>
          <a:prstGeom prst="ellipse">
            <a:avLst/>
          </a:prstGeom>
          <a:solidFill>
            <a:srgbClr val="1FB271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24" y="3054096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953512" y="35021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Paid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2953512" y="383133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₹1,499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95528" y="49011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Checkout in 0.8 seconds.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795528" y="5586984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0BAF2"/>
          </a:solidFill>
          <a:ln/>
        </p:spPr>
      </p:sp>
      <p:sp>
        <p:nvSpPr>
          <p:cNvPr id="25" name="Text 21"/>
          <p:cNvSpPr/>
          <p:nvPr/>
        </p:nvSpPr>
        <p:spPr>
          <a:xfrm>
            <a:off x="795528" y="55869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API Keys ›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989320" y="1874520"/>
            <a:ext cx="563270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989320" y="1874520"/>
            <a:ext cx="91440" cy="1170432"/>
          </a:xfrm>
          <a:prstGeom prst="rect">
            <a:avLst/>
          </a:prstGeom>
          <a:solidFill>
            <a:srgbClr val="00BAF2"/>
          </a:solidFill>
          <a:ln/>
        </p:spPr>
      </p:sp>
      <p:sp>
        <p:nvSpPr>
          <p:cNvPr id="28" name="Text 24"/>
          <p:cNvSpPr/>
          <p:nvPr/>
        </p:nvSpPr>
        <p:spPr>
          <a:xfrm>
            <a:off x="6245352" y="1993392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8F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LAYOUT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245352" y="2258568"/>
            <a:ext cx="5175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Square. A diagonal split: bottom-left navy wedge (~40%), the rest a smooth cyan→cloud wash. A phone mockup sits centre-right showing a UPI ‘Payment successful’ screen. A large ‘0.8s’ stat with a stopwatch icon anchors the top-left.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5989320" y="3191256"/>
            <a:ext cx="5632704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5989320" y="3191256"/>
            <a:ext cx="91440" cy="969264"/>
          </a:xfrm>
          <a:prstGeom prst="rect">
            <a:avLst/>
          </a:prstGeom>
          <a:solidFill>
            <a:srgbClr val="00BAF2"/>
          </a:solidFill>
          <a:ln/>
        </p:spPr>
      </p:sp>
      <p:sp>
        <p:nvSpPr>
          <p:cNvPr id="32" name="Text 28"/>
          <p:cNvSpPr/>
          <p:nvPr/>
        </p:nvSpPr>
        <p:spPr>
          <a:xfrm>
            <a:off x="6245352" y="3310128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8F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PALETTE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6245352" y="3575304"/>
            <a:ext cx="5175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002970 wedge · Cyan 00BAF2 wash · White copy · Green 1FB271 success tick.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5989320" y="4306824"/>
            <a:ext cx="563270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5989320" y="4306824"/>
            <a:ext cx="91440" cy="1170432"/>
          </a:xfrm>
          <a:prstGeom prst="rect">
            <a:avLst/>
          </a:prstGeom>
          <a:solidFill>
            <a:srgbClr val="00BAF2"/>
          </a:solidFill>
          <a:ln/>
        </p:spPr>
      </p:sp>
      <p:sp>
        <p:nvSpPr>
          <p:cNvPr id="36" name="Text 32"/>
          <p:cNvSpPr/>
          <p:nvPr/>
        </p:nvSpPr>
        <p:spPr>
          <a:xfrm>
            <a:off x="6245352" y="4425696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8F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IMAGERY / GRAPHICS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6245352" y="4690872"/>
            <a:ext cx="5175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with a one-tap UPI success UI (₹1,499 · paid), a stopwatch/bolt icon, faint speed/motion lines behind the phone, green check badge.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5989320" y="5623560"/>
            <a:ext cx="5632704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5989320" y="5623560"/>
            <a:ext cx="91440" cy="969264"/>
          </a:xfrm>
          <a:prstGeom prst="rect">
            <a:avLst/>
          </a:prstGeom>
          <a:solidFill>
            <a:srgbClr val="00BAF2"/>
          </a:solidFill>
          <a:ln/>
        </p:spPr>
      </p:sp>
      <p:sp>
        <p:nvSpPr>
          <p:cNvPr id="40" name="Text 36"/>
          <p:cNvSpPr/>
          <p:nvPr/>
        </p:nvSpPr>
        <p:spPr>
          <a:xfrm>
            <a:off x="6245352" y="5742432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8F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PLACEMENT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6245352" y="6007608"/>
            <a:ext cx="5175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Top-left: ‘0.8s’ stat. Headline mid-left over the wedge. Primary line beneath it. CTA pill bottom-centre. Paytm logo top-left corner.</a:t>
            </a:r>
            <a:endParaRPr lang="en-US" sz="1150" dirty="0"/>
          </a:p>
        </p:txBody>
      </p:sp>
      <p:sp>
        <p:nvSpPr>
          <p:cNvPr id="42" name="Text 3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Velocity API  ·  Mock B2B Campaign Brief</a:t>
            </a:r>
            <a:pPr algn="l" indent="0" marL="0">
              <a:buNone/>
            </a:pPr>
            <a:r>
              <a:rPr lang="en-US" sz="850" i="1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(fictional product — illustrative figures)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7E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002970"/>
          </a:solidFill>
          <a:ln/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54864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99616" y="457200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 2 — “Ship UPI this weekend”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1499616" y="12984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02970"/>
          </a:solidFill>
          <a:ln/>
        </p:spPr>
      </p:sp>
      <p:sp>
        <p:nvSpPr>
          <p:cNvPr id="7" name="Text 4"/>
          <p:cNvSpPr/>
          <p:nvPr/>
        </p:nvSpPr>
        <p:spPr>
          <a:xfrm>
            <a:off x="1499616" y="1298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1200×627 (LinkedIn / Google)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57016" y="129844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AF6FE"/>
          </a:solidFill>
          <a:ln/>
        </p:spPr>
      </p:sp>
      <p:sp>
        <p:nvSpPr>
          <p:cNvPr id="9" name="Text 6"/>
          <p:cNvSpPr/>
          <p:nvPr/>
        </p:nvSpPr>
        <p:spPr>
          <a:xfrm>
            <a:off x="3557016" y="12984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 Lead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1874520"/>
            <a:ext cx="4023360" cy="4297680"/>
          </a:xfrm>
          <a:prstGeom prst="rect">
            <a:avLst/>
          </a:prstGeom>
          <a:solidFill>
            <a:srgbClr val="001A4D"/>
          </a:solidFill>
          <a:ln w="12700">
            <a:solidFill>
              <a:srgbClr val="00297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4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95528" y="2075688"/>
            <a:ext cx="242499" cy="242499"/>
          </a:xfrm>
          <a:prstGeom prst="roundRect">
            <a:avLst>
              <a:gd name="adj" fmla="val 20588"/>
            </a:avLst>
          </a:prstGeom>
          <a:solidFill>
            <a:srgbClr val="00BAF2"/>
          </a:solidFill>
          <a:ln/>
        </p:spPr>
      </p:sp>
      <p:sp>
        <p:nvSpPr>
          <p:cNvPr id="12" name="Text 9"/>
          <p:cNvSpPr/>
          <p:nvPr/>
        </p:nvSpPr>
        <p:spPr>
          <a:xfrm>
            <a:off x="795528" y="2061423"/>
            <a:ext cx="242499" cy="242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1248" dirty="0"/>
          </a:p>
        </p:txBody>
      </p:sp>
      <p:sp>
        <p:nvSpPr>
          <p:cNvPr id="13" name="Text 10"/>
          <p:cNvSpPr/>
          <p:nvPr/>
        </p:nvSpPr>
        <p:spPr>
          <a:xfrm>
            <a:off x="1080821" y="2032894"/>
            <a:ext cx="1141171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6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Paytm</a:t>
            </a:r>
            <a:endParaRPr lang="en-US" sz="1326" dirty="0"/>
          </a:p>
        </p:txBody>
      </p:sp>
      <p:sp>
        <p:nvSpPr>
          <p:cNvPr id="14" name="Text 11"/>
          <p:cNvSpPr/>
          <p:nvPr/>
        </p:nvSpPr>
        <p:spPr>
          <a:xfrm>
            <a:off x="795528" y="25511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Ship UPI this weekend.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95528" y="310896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008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0120" y="3255264"/>
            <a:ext cx="109728" cy="10972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7" name="Shape 14"/>
          <p:cNvSpPr/>
          <p:nvPr/>
        </p:nvSpPr>
        <p:spPr>
          <a:xfrm>
            <a:off x="1161288" y="3255264"/>
            <a:ext cx="109728" cy="1097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8" name="Shape 15"/>
          <p:cNvSpPr/>
          <p:nvPr/>
        </p:nvSpPr>
        <p:spPr>
          <a:xfrm>
            <a:off x="1362456" y="3255264"/>
            <a:ext cx="109728" cy="109728"/>
          </a:xfrm>
          <a:prstGeom prst="ellipse">
            <a:avLst/>
          </a:prstGeom>
          <a:solidFill>
            <a:srgbClr val="1FB271"/>
          </a:solidFill>
          <a:ln/>
        </p:spPr>
      </p:sp>
      <p:sp>
        <p:nvSpPr>
          <p:cNvPr id="19" name="Text 16"/>
          <p:cNvSpPr/>
          <p:nvPr/>
        </p:nvSpPr>
        <p:spPr>
          <a:xfrm>
            <a:off x="978408" y="347472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B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 = Velocity(key)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pay.collect(₹1499)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B2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200 success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172968" y="3108960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1FB271"/>
          </a:solidFill>
          <a:ln w="12700">
            <a:solidFill>
              <a:srgbClr val="1FB27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72968" y="3108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· payment.success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172968" y="3621024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12345A"/>
          </a:solidFill>
          <a:ln w="12700">
            <a:solidFill>
              <a:srgbClr val="008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172968" y="362102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 uptime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172968" y="4133088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12345A"/>
          </a:solidFill>
          <a:ln w="12700">
            <a:solidFill>
              <a:srgbClr val="008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172968" y="413308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&lt;120ms latency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72968" y="4645152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12345A"/>
          </a:solidFill>
          <a:ln w="12700">
            <a:solidFill>
              <a:srgbClr val="008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72968" y="46451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webhooks + retries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807208" y="55321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00BAF2"/>
          </a:solidFill>
          <a:ln/>
        </p:spPr>
      </p:sp>
      <p:sp>
        <p:nvSpPr>
          <p:cNvPr id="29" name="Text 26"/>
          <p:cNvSpPr/>
          <p:nvPr/>
        </p:nvSpPr>
        <p:spPr>
          <a:xfrm>
            <a:off x="2807208" y="5532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the Docs ›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989320" y="1874520"/>
            <a:ext cx="563270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89320" y="1874520"/>
            <a:ext cx="91440" cy="1170432"/>
          </a:xfrm>
          <a:prstGeom prst="rect">
            <a:avLst/>
          </a:prstGeom>
          <a:solidFill>
            <a:srgbClr val="00BAF2"/>
          </a:solidFill>
          <a:ln/>
        </p:spPr>
      </p:sp>
      <p:sp>
        <p:nvSpPr>
          <p:cNvPr id="32" name="Text 29"/>
          <p:cNvSpPr/>
          <p:nvPr/>
        </p:nvSpPr>
        <p:spPr>
          <a:xfrm>
            <a:off x="6245352" y="1993392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8F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LAYOUT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245352" y="2258568"/>
            <a:ext cx="5175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Landscape, full dark ‘IDE’ canvas. Left ~60%: a rounded code-editor card showing the ~5 lines needed to integrate. Right ~40%: a terminal chip reading ‘200 OK · payment.success’ plus three proof chips (99.99% uptime · &lt;120ms · signed webhooks).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5989320" y="3191256"/>
            <a:ext cx="5632704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989320" y="3191256"/>
            <a:ext cx="91440" cy="969264"/>
          </a:xfrm>
          <a:prstGeom prst="rect">
            <a:avLst/>
          </a:prstGeom>
          <a:solidFill>
            <a:srgbClr val="00BAF2"/>
          </a:solidFill>
          <a:ln/>
        </p:spPr>
      </p:sp>
      <p:sp>
        <p:nvSpPr>
          <p:cNvPr id="36" name="Text 33"/>
          <p:cNvSpPr/>
          <p:nvPr/>
        </p:nvSpPr>
        <p:spPr>
          <a:xfrm>
            <a:off x="6245352" y="3310128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8F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PALETTE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245352" y="3575304"/>
            <a:ext cx="5175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Navy2 001A4D / near-black ground · Cyan syntax highlights · Green status dot · White copy.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5989320" y="4306824"/>
            <a:ext cx="563270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5989320" y="4306824"/>
            <a:ext cx="91440" cy="1170432"/>
          </a:xfrm>
          <a:prstGeom prst="rect">
            <a:avLst/>
          </a:prstGeom>
          <a:solidFill>
            <a:srgbClr val="00BAF2"/>
          </a:solidFill>
          <a:ln/>
        </p:spPr>
      </p:sp>
      <p:sp>
        <p:nvSpPr>
          <p:cNvPr id="40" name="Text 37"/>
          <p:cNvSpPr/>
          <p:nvPr/>
        </p:nvSpPr>
        <p:spPr>
          <a:xfrm>
            <a:off x="6245352" y="4425696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8F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IMAGERY / GRAPHICS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245352" y="4690872"/>
            <a:ext cx="5175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Stylised code editor window with traffic-light dots, monospace code with cyan/green syntax, a terminal/status line, bracket motif in the corner.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5989320" y="5623560"/>
            <a:ext cx="5632704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989320" y="5623560"/>
            <a:ext cx="91440" cy="969264"/>
          </a:xfrm>
          <a:prstGeom prst="rect">
            <a:avLst/>
          </a:prstGeom>
          <a:solidFill>
            <a:srgbClr val="00BAF2"/>
          </a:solidFill>
          <a:ln/>
        </p:spPr>
      </p:sp>
      <p:sp>
        <p:nvSpPr>
          <p:cNvPr id="44" name="Text 41"/>
          <p:cNvSpPr/>
          <p:nvPr/>
        </p:nvSpPr>
        <p:spPr>
          <a:xfrm>
            <a:off x="6245352" y="5742432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8F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PLACEMENT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245352" y="6007608"/>
            <a:ext cx="5175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top-left (white). Code card centre-left. Proof chips stacked right. CTA pill bottom-right. ‘Paytm for Developers’ lockup top-left.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Velocity API  ·  Mock B2B Campaign Brief</a:t>
            </a:r>
            <a:pPr algn="l" indent="0" marL="0">
              <a:buNone/>
            </a:pPr>
            <a:r>
              <a:rPr lang="en-US" sz="850" i="1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(fictional product — illustrative figures)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7E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002970"/>
          </a:solidFill>
          <a:ln/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54864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99616" y="457200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 3 — “Get paid online, the easy way”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1499616" y="12984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02970"/>
          </a:solidFill>
          <a:ln/>
        </p:spPr>
      </p:sp>
      <p:sp>
        <p:nvSpPr>
          <p:cNvPr id="7" name="Text 4"/>
          <p:cNvSpPr/>
          <p:nvPr/>
        </p:nvSpPr>
        <p:spPr>
          <a:xfrm>
            <a:off x="1499616" y="1298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1080×1350 (Meta / Instagram)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57016" y="129844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AF6FE"/>
          </a:solidFill>
          <a:ln/>
        </p:spPr>
      </p:sp>
      <p:sp>
        <p:nvSpPr>
          <p:cNvPr id="9" name="Text 6"/>
          <p:cNvSpPr/>
          <p:nvPr/>
        </p:nvSpPr>
        <p:spPr>
          <a:xfrm>
            <a:off x="3557016" y="12984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Retail Owner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1874520"/>
            <a:ext cx="3200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4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" y="1874520"/>
            <a:ext cx="3200400" cy="2406701"/>
          </a:xfrm>
          <a:prstGeom prst="rect">
            <a:avLst/>
          </a:prstGeom>
          <a:solidFill>
            <a:srgbClr val="EAF6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208" y="2331720"/>
            <a:ext cx="1005840" cy="10058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8F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 AREA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49808" y="3703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SMB owner smiling at laptop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(Paytm dashboard on screen)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68096" y="2057400"/>
            <a:ext cx="242499" cy="242499"/>
          </a:xfrm>
          <a:prstGeom prst="roundRect">
            <a:avLst>
              <a:gd name="adj" fmla="val 20588"/>
            </a:avLst>
          </a:prstGeom>
          <a:solidFill>
            <a:srgbClr val="00BAF2"/>
          </a:solidFill>
          <a:ln/>
        </p:spPr>
      </p:sp>
      <p:sp>
        <p:nvSpPr>
          <p:cNvPr id="16" name="Text 12"/>
          <p:cNvSpPr/>
          <p:nvPr/>
        </p:nvSpPr>
        <p:spPr>
          <a:xfrm>
            <a:off x="768096" y="2043135"/>
            <a:ext cx="242499" cy="242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1248" dirty="0"/>
          </a:p>
        </p:txBody>
      </p:sp>
      <p:sp>
        <p:nvSpPr>
          <p:cNvPr id="17" name="Text 13"/>
          <p:cNvSpPr/>
          <p:nvPr/>
        </p:nvSpPr>
        <p:spPr>
          <a:xfrm>
            <a:off x="1053389" y="2014606"/>
            <a:ext cx="1141171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6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Paytm</a:t>
            </a:r>
            <a:endParaRPr lang="en-US" sz="1326" dirty="0"/>
          </a:p>
        </p:txBody>
      </p:sp>
      <p:sp>
        <p:nvSpPr>
          <p:cNvPr id="18" name="Shape 14"/>
          <p:cNvSpPr/>
          <p:nvPr/>
        </p:nvSpPr>
        <p:spPr>
          <a:xfrm>
            <a:off x="566928" y="4281221"/>
            <a:ext cx="3200400" cy="1890979"/>
          </a:xfrm>
          <a:prstGeom prst="rect">
            <a:avLst/>
          </a:prstGeom>
          <a:solidFill>
            <a:srgbClr val="002970"/>
          </a:solidFill>
          <a:ln/>
        </p:spPr>
      </p:sp>
      <p:sp>
        <p:nvSpPr>
          <p:cNvPr id="19" name="Text 15"/>
          <p:cNvSpPr/>
          <p:nvPr/>
        </p:nvSpPr>
        <p:spPr>
          <a:xfrm>
            <a:off x="822960" y="4409237"/>
            <a:ext cx="2688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paid online,
</a:t>
            </a:r>
            <a:endParaRPr lang="en-US" sz="1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easy way.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822960" y="5268773"/>
            <a:ext cx="1306678" cy="310896"/>
          </a:xfrm>
          <a:prstGeom prst="roundRect">
            <a:avLst>
              <a:gd name="adj" fmla="val 50000"/>
            </a:avLst>
          </a:prstGeom>
          <a:solidFill>
            <a:srgbClr val="12345A"/>
          </a:solidFill>
          <a:ln/>
        </p:spPr>
      </p:sp>
      <p:sp>
        <p:nvSpPr>
          <p:cNvPr id="21" name="Text 17"/>
          <p:cNvSpPr/>
          <p:nvPr/>
        </p:nvSpPr>
        <p:spPr>
          <a:xfrm>
            <a:off x="822960" y="5268773"/>
            <a:ext cx="13066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F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RBI-regulated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2239366" y="5268773"/>
            <a:ext cx="851306" cy="310896"/>
          </a:xfrm>
          <a:prstGeom prst="roundRect">
            <a:avLst>
              <a:gd name="adj" fmla="val 50000"/>
            </a:avLst>
          </a:prstGeom>
          <a:solidFill>
            <a:srgbClr val="12345A"/>
          </a:solidFill>
          <a:ln/>
        </p:spPr>
      </p:sp>
      <p:sp>
        <p:nvSpPr>
          <p:cNvPr id="23" name="Text 19"/>
          <p:cNvSpPr/>
          <p:nvPr/>
        </p:nvSpPr>
        <p:spPr>
          <a:xfrm>
            <a:off x="2239366" y="5268773"/>
            <a:ext cx="851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F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200400" y="5268773"/>
            <a:ext cx="1534363" cy="310896"/>
          </a:xfrm>
          <a:prstGeom prst="roundRect">
            <a:avLst>
              <a:gd name="adj" fmla="val 50000"/>
            </a:avLst>
          </a:prstGeom>
          <a:solidFill>
            <a:srgbClr val="12345A"/>
          </a:solidFill>
          <a:ln/>
        </p:spPr>
      </p:sp>
      <p:sp>
        <p:nvSpPr>
          <p:cNvPr id="25" name="Text 21"/>
          <p:cNvSpPr/>
          <p:nvPr/>
        </p:nvSpPr>
        <p:spPr>
          <a:xfrm>
            <a:off x="3200400" y="5268773"/>
            <a:ext cx="153436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F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2.5cr+ merchants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1298448" y="560527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0BAF2"/>
          </a:solidFill>
          <a:ln/>
        </p:spPr>
      </p:sp>
      <p:sp>
        <p:nvSpPr>
          <p:cNvPr id="27" name="Text 23"/>
          <p:cNvSpPr/>
          <p:nvPr/>
        </p:nvSpPr>
        <p:spPr>
          <a:xfrm>
            <a:off x="1298448" y="56052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Free ›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989320" y="1874520"/>
            <a:ext cx="563270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989320" y="1874520"/>
            <a:ext cx="91440" cy="1170432"/>
          </a:xfrm>
          <a:prstGeom prst="rect">
            <a:avLst/>
          </a:prstGeom>
          <a:solidFill>
            <a:srgbClr val="00BAF2"/>
          </a:solidFill>
          <a:ln/>
        </p:spPr>
      </p:sp>
      <p:sp>
        <p:nvSpPr>
          <p:cNvPr id="30" name="Text 26"/>
          <p:cNvSpPr/>
          <p:nvPr/>
        </p:nvSpPr>
        <p:spPr>
          <a:xfrm>
            <a:off x="6245352" y="1993392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8F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LAYOUT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245352" y="2258568"/>
            <a:ext cx="5175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Portrait. Top ~58%: a bright, authentic photo of a mid-40s Indian business owner smiling at a laptop that shows the Paytm merchant dashboard. Bottom ~42%: a solid navy band carrying the headline, a row of trust badges, and the CTA.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5989320" y="3191256"/>
            <a:ext cx="5632704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5989320" y="3191256"/>
            <a:ext cx="91440" cy="969264"/>
          </a:xfrm>
          <a:prstGeom prst="rect">
            <a:avLst/>
          </a:prstGeom>
          <a:solidFill>
            <a:srgbClr val="00BAF2"/>
          </a:solidFill>
          <a:ln/>
        </p:spPr>
      </p:sp>
      <p:sp>
        <p:nvSpPr>
          <p:cNvPr id="34" name="Text 30"/>
          <p:cNvSpPr/>
          <p:nvPr/>
        </p:nvSpPr>
        <p:spPr>
          <a:xfrm>
            <a:off x="6245352" y="3310128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8F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PALETTE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6245352" y="3575304"/>
            <a:ext cx="5175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photo up top · Navy 002970 band below · Cyan accent word + CTA · White copy · Green badge ticks.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5989320" y="4306824"/>
            <a:ext cx="563270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5989320" y="4306824"/>
            <a:ext cx="91440" cy="1170432"/>
          </a:xfrm>
          <a:prstGeom prst="rect">
            <a:avLst/>
          </a:prstGeom>
          <a:solidFill>
            <a:srgbClr val="00BAF2"/>
          </a:solidFill>
          <a:ln/>
        </p:spPr>
      </p:sp>
      <p:sp>
        <p:nvSpPr>
          <p:cNvPr id="38" name="Text 34"/>
          <p:cNvSpPr/>
          <p:nvPr/>
        </p:nvSpPr>
        <p:spPr>
          <a:xfrm>
            <a:off x="6245352" y="4425696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8F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IMAGERY / GRAPHICS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6245352" y="4690872"/>
            <a:ext cx="5175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Indian SMB owner at a laptop/phone, Paytm ‘Payments’ dashboard on screen, trust badges (RBI-regulated · PCI-DSS · 2.5cr+ merchants), a small ‘T+1 settlement’ icon.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5989320" y="5623560"/>
            <a:ext cx="5632704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5989320" y="5623560"/>
            <a:ext cx="91440" cy="969264"/>
          </a:xfrm>
          <a:prstGeom prst="rect">
            <a:avLst/>
          </a:prstGeom>
          <a:solidFill>
            <a:srgbClr val="00BAF2"/>
          </a:solidFill>
          <a:ln/>
        </p:spPr>
      </p:sp>
      <p:sp>
        <p:nvSpPr>
          <p:cNvPr id="42" name="Text 38"/>
          <p:cNvSpPr/>
          <p:nvPr/>
        </p:nvSpPr>
        <p:spPr>
          <a:xfrm>
            <a:off x="6245352" y="5742432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8F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PLACEMENT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6245352" y="6007608"/>
            <a:ext cx="5175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on the navy band (cyan accent on ‘easy way’). Trust-badge row beneath. CTA pill bottom-centre. Paytm logo top-left over the photo.</a:t>
            </a:r>
            <a:endParaRPr lang="en-US" sz="1150" dirty="0"/>
          </a:p>
        </p:txBody>
      </p:sp>
      <p:sp>
        <p:nvSpPr>
          <p:cNvPr id="44" name="Text 4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Velocity API  ·  Mock B2B Campaign Brief</a:t>
            </a:r>
            <a:pPr algn="l" indent="0" marL="0">
              <a:buNone/>
            </a:pPr>
            <a:r>
              <a:rPr lang="en-US" sz="850" i="1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(fictional product — illustrative figures)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7E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002970"/>
          </a:solidFill>
          <a:ln/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54864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99616" y="457200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 Copy &amp; CTAs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punchy, conversion-first. Each line maps to one creative and one segment.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800600"/>
                <a:gridCol w="2514600"/>
                <a:gridCol w="1453896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Text (1–2 lines)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(&lt;10 words)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 Button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70"/>
                    </a:solidFill>
                  </a:tcPr>
                </a:tc>
              </a:tr>
              <a:tr h="12070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29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Speed = Conversion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29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(Founder)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extra second at checkout costs you a sale. Velocity collapses UPI into a single in-app tap — so more carts actually convert.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29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“Checkout in 0.8 seconds.”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API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FC4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29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Ship it this weekend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29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(Tech Lead)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docs, a real sandbox, and signed webhooks that fire on time. Integrate UPI in an afternoon — not a sprint.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29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“Ship UPI this weekend.”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the 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FC4"/>
                    </a:solidFill>
                  </a:tcPr>
                </a:tc>
              </a:tr>
              <a:tr h="12070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29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The easy 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29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(Retail Owner)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UPI on your website without the tech headache. Plug in, get paid, and settle by tomorrow — backed by India’s most trusted payments brand.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29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“Get paid online, the easy way.”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FC4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5989320"/>
            <a:ext cx="11055096" cy="548640"/>
          </a:xfrm>
          <a:prstGeom prst="rect">
            <a:avLst/>
          </a:prstGeom>
          <a:solidFill>
            <a:srgbClr val="EAF6FE"/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95528" y="5989320"/>
            <a:ext cx="10597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strategy:  </a:t>
            </a:r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“Read the Docs” / “Get API Keys” pull high-intent developers (low-friction, BOFU); “Start Free” lowers the bar for non-technical owners. Keep one CTA per ad — never stack two.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Velocity API  ·  Mock B2B Campaign Brief</a:t>
            </a:r>
            <a:pPr algn="l" indent="0" marL="0">
              <a:buNone/>
            </a:pPr>
            <a:r>
              <a:rPr lang="en-US" sz="850" i="1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(fictional product — illustrative figures)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7E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002970"/>
          </a:solidFill>
          <a:ln/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54864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99616" y="457200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Targeting Strategy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554480"/>
            <a:ext cx="347167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" y="1554480"/>
            <a:ext cx="3471672" cy="868680"/>
          </a:xfrm>
          <a:prstGeom prst="rect">
            <a:avLst/>
          </a:prstGeom>
          <a:solidFill>
            <a:srgbClr val="00297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92224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44168" y="1673352"/>
            <a:ext cx="255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LinkedIn Ads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344168" y="2011680"/>
            <a:ext cx="2557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· decision-makers (BOFU)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66928" y="1673352"/>
            <a:ext cx="328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₹12.0L · 40%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22960" y="2578608"/>
            <a:ext cx="301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JOB TITLES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822960" y="2788920"/>
            <a:ext cx="301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7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Co-founder, CTO, VP Eng, Head of Payments / Product, Eng Manager, Lead Developer, Head of Growth / E-commerce</a:t>
            </a:r>
            <a:endParaRPr lang="en-US" sz="970" dirty="0"/>
          </a:p>
        </p:txBody>
      </p:sp>
      <p:sp>
        <p:nvSpPr>
          <p:cNvPr id="14" name="Text 10"/>
          <p:cNvSpPr/>
          <p:nvPr/>
        </p:nvSpPr>
        <p:spPr>
          <a:xfrm>
            <a:off x="822960" y="3227832"/>
            <a:ext cx="301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FIRMOGRAPHICS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822960" y="3438144"/>
            <a:ext cx="301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7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Internet, E-commerce, Fintech, SaaS, Retail · 11–500 emp · India metros (BLR, MUM, DEL-NCR, PUN, HYD, CHN)</a:t>
            </a:r>
            <a:endParaRPr lang="en-US" sz="970" dirty="0"/>
          </a:p>
        </p:txBody>
      </p:sp>
      <p:sp>
        <p:nvSpPr>
          <p:cNvPr id="16" name="Text 12"/>
          <p:cNvSpPr/>
          <p:nvPr/>
        </p:nvSpPr>
        <p:spPr>
          <a:xfrm>
            <a:off x="822960" y="3877056"/>
            <a:ext cx="301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LEVERS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822960" y="4087368"/>
            <a:ext cx="301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7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Payment Gateways, APIs, Node/React · retarget site visitors · upload CRM/ABM lists</a:t>
            </a:r>
            <a:endParaRPr lang="en-US" sz="970" dirty="0"/>
          </a:p>
        </p:txBody>
      </p:sp>
      <p:sp>
        <p:nvSpPr>
          <p:cNvPr id="18" name="Text 14"/>
          <p:cNvSpPr/>
          <p:nvPr/>
        </p:nvSpPr>
        <p:spPr>
          <a:xfrm>
            <a:off x="822960" y="4526280"/>
            <a:ext cx="301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FORMATS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822960" y="4736592"/>
            <a:ext cx="301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7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Single-image, Document &amp; Thought-leader ads, Conversation ads</a:t>
            </a:r>
            <a:endParaRPr lang="en-US" sz="970" dirty="0"/>
          </a:p>
        </p:txBody>
      </p:sp>
      <p:sp>
        <p:nvSpPr>
          <p:cNvPr id="20" name="Shape 16"/>
          <p:cNvSpPr/>
          <p:nvPr/>
        </p:nvSpPr>
        <p:spPr>
          <a:xfrm>
            <a:off x="4358640" y="1554480"/>
            <a:ext cx="347167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358640" y="1554480"/>
            <a:ext cx="3471672" cy="868680"/>
          </a:xfrm>
          <a:prstGeom prst="rect">
            <a:avLst/>
          </a:prstGeom>
          <a:solidFill>
            <a:srgbClr val="008FC4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672" y="1792224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35880" y="1673352"/>
            <a:ext cx="255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Ads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5135880" y="2011680"/>
            <a:ext cx="2557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+ retargeting (TOFU/MOFU)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358640" y="1673352"/>
            <a:ext cx="328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₹10.5L · 35%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614672" y="2578608"/>
            <a:ext cx="301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8F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INTERESTS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4614672" y="2788920"/>
            <a:ext cx="301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7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Entrepreneurship, Shopify, WooCommerce, E-commerce, Razorpay, Stripe, Startup India, Digital marketing</a:t>
            </a:r>
            <a:endParaRPr lang="en-US" sz="970" dirty="0"/>
          </a:p>
        </p:txBody>
      </p:sp>
      <p:sp>
        <p:nvSpPr>
          <p:cNvPr id="28" name="Text 23"/>
          <p:cNvSpPr/>
          <p:nvPr/>
        </p:nvSpPr>
        <p:spPr>
          <a:xfrm>
            <a:off x="4614672" y="3227832"/>
            <a:ext cx="301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8F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BEHAVIORS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4614672" y="3438144"/>
            <a:ext cx="301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7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Small-business owners, Business-page admins, Engaged shoppers</a:t>
            </a:r>
            <a:endParaRPr lang="en-US" sz="970" dirty="0"/>
          </a:p>
        </p:txBody>
      </p:sp>
      <p:sp>
        <p:nvSpPr>
          <p:cNvPr id="30" name="Text 25"/>
          <p:cNvSpPr/>
          <p:nvPr/>
        </p:nvSpPr>
        <p:spPr>
          <a:xfrm>
            <a:off x="4614672" y="3877056"/>
            <a:ext cx="301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8F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LOOKALIKES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4614672" y="4087368"/>
            <a:ext cx="301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7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1–3% LAL of Paytm for Business merchants &amp; sign-up list</a:t>
            </a:r>
            <a:endParaRPr lang="en-US" sz="970" dirty="0"/>
          </a:p>
        </p:txBody>
      </p:sp>
      <p:sp>
        <p:nvSpPr>
          <p:cNvPr id="32" name="Text 27"/>
          <p:cNvSpPr/>
          <p:nvPr/>
        </p:nvSpPr>
        <p:spPr>
          <a:xfrm>
            <a:off x="4614672" y="4526280"/>
            <a:ext cx="301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8F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PLACEMENTS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4614672" y="4736592"/>
            <a:ext cx="301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7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FB/IG Feed, Reels, Stories · retarget visitors, video viewers, lead-form openers · Age 25–55, India</a:t>
            </a:r>
            <a:endParaRPr lang="en-US" sz="970" dirty="0"/>
          </a:p>
        </p:txBody>
      </p:sp>
      <p:sp>
        <p:nvSpPr>
          <p:cNvPr id="34" name="Shape 29"/>
          <p:cNvSpPr/>
          <p:nvPr/>
        </p:nvSpPr>
        <p:spPr>
          <a:xfrm>
            <a:off x="8150352" y="1554480"/>
            <a:ext cx="347167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8150352" y="1554480"/>
            <a:ext cx="3471672" cy="868680"/>
          </a:xfrm>
          <a:prstGeom prst="rect">
            <a:avLst/>
          </a:prstGeom>
          <a:solidFill>
            <a:srgbClr val="1FB271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384" y="1792224"/>
            <a:ext cx="402336" cy="40233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8927592" y="1673352"/>
            <a:ext cx="255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Search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8927592" y="2011680"/>
            <a:ext cx="2557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capture (BOFU)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8150352" y="1673352"/>
            <a:ext cx="328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₹7.5L · 25%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8406384" y="2578608"/>
            <a:ext cx="301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FB2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KEYWORDS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8406384" y="2788920"/>
            <a:ext cx="301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7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“upi payment gateway api”, “payment gateway integration”, “razorpay alternative”, “upi api for website”, “collect upi payments api”</a:t>
            </a:r>
            <a:endParaRPr lang="en-US" sz="970" dirty="0"/>
          </a:p>
        </p:txBody>
      </p:sp>
      <p:sp>
        <p:nvSpPr>
          <p:cNvPr id="42" name="Text 36"/>
          <p:cNvSpPr/>
          <p:nvPr/>
        </p:nvSpPr>
        <p:spPr>
          <a:xfrm>
            <a:off x="8406384" y="3227832"/>
            <a:ext cx="301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FB2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NEGATIVES</a:t>
            </a: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8406384" y="3438144"/>
            <a:ext cx="301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7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salary, login, customer care, refund, free, charges complaint</a:t>
            </a:r>
            <a:endParaRPr lang="en-US" sz="970" dirty="0"/>
          </a:p>
        </p:txBody>
      </p:sp>
      <p:sp>
        <p:nvSpPr>
          <p:cNvPr id="44" name="Text 38"/>
          <p:cNvSpPr/>
          <p:nvPr/>
        </p:nvSpPr>
        <p:spPr>
          <a:xfrm>
            <a:off x="8406384" y="3877056"/>
            <a:ext cx="301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FB2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LEVERS</a:t>
            </a:r>
            <a:endParaRPr lang="en-US" sz="850" dirty="0"/>
          </a:p>
        </p:txBody>
      </p:sp>
      <p:sp>
        <p:nvSpPr>
          <p:cNvPr id="45" name="Text 39"/>
          <p:cNvSpPr/>
          <p:nvPr/>
        </p:nvSpPr>
        <p:spPr>
          <a:xfrm>
            <a:off x="8406384" y="4087368"/>
            <a:ext cx="301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7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Exact/phrase, match-type segmented · RLSA · Display/YouTube retargeting · weekly search-term mining</a:t>
            </a:r>
            <a:endParaRPr lang="en-US" sz="970" dirty="0"/>
          </a:p>
        </p:txBody>
      </p:sp>
      <p:sp>
        <p:nvSpPr>
          <p:cNvPr id="46" name="Text 40"/>
          <p:cNvSpPr/>
          <p:nvPr/>
        </p:nvSpPr>
        <p:spPr>
          <a:xfrm>
            <a:off x="8406384" y="4526280"/>
            <a:ext cx="301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FB2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NOTE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8406384" y="4736592"/>
            <a:ext cx="301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7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intent keywords: ~40–60% cheaper, 2–3× higher conversion</a:t>
            </a:r>
            <a:endParaRPr lang="en-US" sz="970" dirty="0"/>
          </a:p>
        </p:txBody>
      </p:sp>
      <p:sp>
        <p:nvSpPr>
          <p:cNvPr id="48" name="Shape 42"/>
          <p:cNvSpPr/>
          <p:nvPr/>
        </p:nvSpPr>
        <p:spPr>
          <a:xfrm>
            <a:off x="566928" y="5440680"/>
            <a:ext cx="11055096" cy="1051560"/>
          </a:xfrm>
          <a:prstGeom prst="rect">
            <a:avLst/>
          </a:prstGeom>
          <a:solidFill>
            <a:srgbClr val="002970"/>
          </a:solidFill>
          <a:ln/>
        </p:spPr>
      </p:sp>
      <p:sp>
        <p:nvSpPr>
          <p:cNvPr id="49" name="Text 43"/>
          <p:cNvSpPr/>
          <p:nvPr/>
        </p:nvSpPr>
        <p:spPr>
          <a:xfrm>
            <a:off x="841248" y="5559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FULL-FUNNEL FLOW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841248" y="5870448"/>
            <a:ext cx="3319272" cy="502920"/>
          </a:xfrm>
          <a:prstGeom prst="roundRect">
            <a:avLst>
              <a:gd name="adj" fmla="val 18182"/>
            </a:avLst>
          </a:prstGeom>
          <a:solidFill>
            <a:srgbClr val="12345A"/>
          </a:solidFill>
          <a:ln w="12700">
            <a:solidFill>
              <a:srgbClr val="008FC4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1005840" y="5870448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TOFU:  </a:t>
            </a:r>
            <a:pPr indent="0" marL="0">
              <a:buNone/>
            </a:pPr>
            <a:r>
              <a:rPr lang="en-US" sz="9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reach + LinkedIn thought-leader ads</a:t>
            </a:r>
            <a:endParaRPr lang="en-US" sz="950" dirty="0"/>
          </a:p>
        </p:txBody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8808" y="6016752"/>
            <a:ext cx="219456" cy="219456"/>
          </a:xfrm>
          <a:prstGeom prst="rect">
            <a:avLst/>
          </a:prstGeom>
        </p:spPr>
      </p:pic>
      <p:sp>
        <p:nvSpPr>
          <p:cNvPr id="53" name="Shape 46"/>
          <p:cNvSpPr/>
          <p:nvPr/>
        </p:nvSpPr>
        <p:spPr>
          <a:xfrm>
            <a:off x="4434840" y="5870448"/>
            <a:ext cx="3319272" cy="502920"/>
          </a:xfrm>
          <a:prstGeom prst="roundRect">
            <a:avLst>
              <a:gd name="adj" fmla="val 18182"/>
            </a:avLst>
          </a:prstGeom>
          <a:solidFill>
            <a:srgbClr val="12345A"/>
          </a:solidFill>
          <a:ln w="12700">
            <a:solidFill>
              <a:srgbClr val="008FC4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4599432" y="5870448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MOFU:  </a:t>
            </a:r>
            <a:pPr indent="0" marL="0">
              <a:buNone/>
            </a:pPr>
            <a:r>
              <a:rPr lang="en-US" sz="9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· doc downloads · webinar · lead forms</a:t>
            </a:r>
            <a:endParaRPr lang="en-US" sz="950" dirty="0"/>
          </a:p>
        </p:txBody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6016752"/>
            <a:ext cx="219456" cy="219456"/>
          </a:xfrm>
          <a:prstGeom prst="rect">
            <a:avLst/>
          </a:prstGeom>
        </p:spPr>
      </p:pic>
      <p:sp>
        <p:nvSpPr>
          <p:cNvPr id="56" name="Shape 48"/>
          <p:cNvSpPr/>
          <p:nvPr/>
        </p:nvSpPr>
        <p:spPr>
          <a:xfrm>
            <a:off x="8028432" y="5870448"/>
            <a:ext cx="3319272" cy="502920"/>
          </a:xfrm>
          <a:prstGeom prst="roundRect">
            <a:avLst>
              <a:gd name="adj" fmla="val 18182"/>
            </a:avLst>
          </a:prstGeom>
          <a:solidFill>
            <a:srgbClr val="12345A"/>
          </a:solidFill>
          <a:ln w="12700">
            <a:solidFill>
              <a:srgbClr val="008FC4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8193024" y="5870448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BOFU:  </a:t>
            </a:r>
            <a:pPr indent="0" marL="0">
              <a:buNone/>
            </a:pPr>
            <a:r>
              <a:rPr lang="en-US" sz="9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+ LI Conversation ads → sandbox / demo</a:t>
            </a:r>
            <a:endParaRPr lang="en-US" sz="950" dirty="0"/>
          </a:p>
        </p:txBody>
      </p:sp>
      <p:sp>
        <p:nvSpPr>
          <p:cNvPr id="58" name="Text 5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Velocity API  ·  Mock B2B Campaign Brief</a:t>
            </a:r>
            <a:pPr algn="l" indent="0" marL="0">
              <a:buNone/>
            </a:pPr>
            <a:r>
              <a:rPr lang="en-US" sz="850" i="1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(fictional product — illustrative figures)</a:t>
            </a:r>
            <a:endParaRPr lang="en-US" sz="850" dirty="0"/>
          </a:p>
        </p:txBody>
      </p:sp>
      <p:sp>
        <p:nvSpPr>
          <p:cNvPr id="59" name="Text 5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7E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9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00BAF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99616" y="45720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Mock Results — 30-Day Run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577072" y="603504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2345A"/>
          </a:solidFill>
          <a:ln/>
        </p:spPr>
      </p:sp>
      <p:sp>
        <p:nvSpPr>
          <p:cNvPr id="6" name="Text 4"/>
          <p:cNvSpPr/>
          <p:nvPr/>
        </p:nvSpPr>
        <p:spPr>
          <a:xfrm>
            <a:off x="8577072" y="60350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₹30,00,000 SPEND · INDIA B2B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508760"/>
            <a:ext cx="3441192" cy="1965960"/>
          </a:xfrm>
          <a:prstGeom prst="rect">
            <a:avLst/>
          </a:prstGeom>
          <a:solidFill>
            <a:srgbClr val="001A4D"/>
          </a:solidFill>
          <a:ln w="12700">
            <a:solidFill>
              <a:srgbClr val="12345A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508760"/>
            <a:ext cx="3441192" cy="109728"/>
          </a:xfrm>
          <a:prstGeom prst="rect">
            <a:avLst/>
          </a:prstGeom>
          <a:solidFill>
            <a:srgbClr val="00BAF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0880" y="180136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1920240"/>
            <a:ext cx="2983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1.15%</a:t>
            </a:r>
            <a:endParaRPr lang="en-US" sz="5000" dirty="0"/>
          </a:p>
        </p:txBody>
      </p:sp>
      <p:sp>
        <p:nvSpPr>
          <p:cNvPr id="11" name="Text 8"/>
          <p:cNvSpPr/>
          <p:nvPr/>
        </p:nvSpPr>
        <p:spPr>
          <a:xfrm>
            <a:off x="859536" y="2907792"/>
            <a:ext cx="2938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Click-Through Rate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73880" y="1508760"/>
            <a:ext cx="3441192" cy="1965960"/>
          </a:xfrm>
          <a:prstGeom prst="rect">
            <a:avLst/>
          </a:prstGeom>
          <a:solidFill>
            <a:srgbClr val="001A4D"/>
          </a:solidFill>
          <a:ln w="12700">
            <a:solidFill>
              <a:srgbClr val="12345A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4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73880" y="1508760"/>
            <a:ext cx="3441192" cy="10972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832" y="180136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6488" y="1920240"/>
            <a:ext cx="2983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₹67</a:t>
            </a:r>
            <a:endParaRPr lang="en-US" sz="5000" dirty="0"/>
          </a:p>
        </p:txBody>
      </p:sp>
      <p:sp>
        <p:nvSpPr>
          <p:cNvPr id="16" name="Text 12"/>
          <p:cNvSpPr/>
          <p:nvPr/>
        </p:nvSpPr>
        <p:spPr>
          <a:xfrm>
            <a:off x="4666488" y="2907792"/>
            <a:ext cx="2938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Cost Per Click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80832" y="1508760"/>
            <a:ext cx="3441192" cy="1965960"/>
          </a:xfrm>
          <a:prstGeom prst="rect">
            <a:avLst/>
          </a:prstGeom>
          <a:solidFill>
            <a:srgbClr val="001A4D"/>
          </a:solidFill>
          <a:ln w="12700">
            <a:solidFill>
              <a:srgbClr val="12345A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4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80832" y="1508760"/>
            <a:ext cx="3441192" cy="109728"/>
          </a:xfrm>
          <a:prstGeom prst="rect">
            <a:avLst/>
          </a:prstGeom>
          <a:solidFill>
            <a:srgbClr val="1FB27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4784" y="180136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73440" y="1920240"/>
            <a:ext cx="2983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4.2×</a:t>
            </a:r>
            <a:endParaRPr lang="en-US" sz="5000" dirty="0"/>
          </a:p>
        </p:txBody>
      </p:sp>
      <p:sp>
        <p:nvSpPr>
          <p:cNvPr id="21" name="Text 16"/>
          <p:cNvSpPr/>
          <p:nvPr/>
        </p:nvSpPr>
        <p:spPr>
          <a:xfrm>
            <a:off x="8473440" y="2907792"/>
            <a:ext cx="2938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— 12-mo projected, pipeline-weighted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66928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CONVERSION FUNNEL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66928" y="4114800"/>
            <a:ext cx="1674876" cy="914400"/>
          </a:xfrm>
          <a:prstGeom prst="roundRect">
            <a:avLst>
              <a:gd name="adj" fmla="val 10000"/>
            </a:avLst>
          </a:prstGeom>
          <a:solidFill>
            <a:srgbClr val="001A4D"/>
          </a:solidFill>
          <a:ln w="12700">
            <a:solidFill>
              <a:srgbClr val="008FC4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66928" y="4233672"/>
            <a:ext cx="1674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3.9M</a:t>
            </a:r>
            <a:endParaRPr lang="en-US" sz="2100" dirty="0"/>
          </a:p>
        </p:txBody>
      </p:sp>
      <p:sp>
        <p:nvSpPr>
          <p:cNvPr id="25" name="Text 20"/>
          <p:cNvSpPr/>
          <p:nvPr/>
        </p:nvSpPr>
        <p:spPr>
          <a:xfrm>
            <a:off x="612648" y="4663440"/>
            <a:ext cx="1583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9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516" y="4480560"/>
            <a:ext cx="182880" cy="18288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2442972" y="4114800"/>
            <a:ext cx="1674876" cy="914400"/>
          </a:xfrm>
          <a:prstGeom prst="roundRect">
            <a:avLst>
              <a:gd name="adj" fmla="val 10000"/>
            </a:avLst>
          </a:prstGeom>
          <a:solidFill>
            <a:srgbClr val="001A4D"/>
          </a:solidFill>
          <a:ln w="12700">
            <a:solidFill>
              <a:srgbClr val="008FC4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442972" y="4233672"/>
            <a:ext cx="1674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44,990</a:t>
            </a:r>
            <a:endParaRPr lang="en-US" sz="2100" dirty="0"/>
          </a:p>
        </p:txBody>
      </p:sp>
      <p:sp>
        <p:nvSpPr>
          <p:cNvPr id="29" name="Text 23"/>
          <p:cNvSpPr/>
          <p:nvPr/>
        </p:nvSpPr>
        <p:spPr>
          <a:xfrm>
            <a:off x="2488692" y="4663440"/>
            <a:ext cx="1583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</a:t>
            </a:r>
            <a:endParaRPr lang="en-US" sz="9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9560" y="4480560"/>
            <a:ext cx="182880" cy="18288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4319016" y="4114800"/>
            <a:ext cx="1674876" cy="914400"/>
          </a:xfrm>
          <a:prstGeom prst="roundRect">
            <a:avLst>
              <a:gd name="adj" fmla="val 10000"/>
            </a:avLst>
          </a:prstGeom>
          <a:solidFill>
            <a:srgbClr val="001A4D"/>
          </a:solidFill>
          <a:ln w="12700">
            <a:solidFill>
              <a:srgbClr val="008FC4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319016" y="4233672"/>
            <a:ext cx="1674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2,700</a:t>
            </a:r>
            <a:endParaRPr lang="en-US" sz="2100" dirty="0"/>
          </a:p>
        </p:txBody>
      </p:sp>
      <p:sp>
        <p:nvSpPr>
          <p:cNvPr id="33" name="Text 26"/>
          <p:cNvSpPr/>
          <p:nvPr/>
        </p:nvSpPr>
        <p:spPr>
          <a:xfrm>
            <a:off x="4364736" y="4663440"/>
            <a:ext cx="1583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sign-ups</a:t>
            </a:r>
            <a:endParaRPr lang="en-US" sz="9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5604" y="4480560"/>
            <a:ext cx="182880" cy="18288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6195060" y="4114800"/>
            <a:ext cx="1674876" cy="914400"/>
          </a:xfrm>
          <a:prstGeom prst="roundRect">
            <a:avLst>
              <a:gd name="adj" fmla="val 10000"/>
            </a:avLst>
          </a:prstGeom>
          <a:solidFill>
            <a:srgbClr val="001A4D"/>
          </a:solidFill>
          <a:ln w="12700">
            <a:solidFill>
              <a:srgbClr val="008FC4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6195060" y="4233672"/>
            <a:ext cx="1674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945</a:t>
            </a:r>
            <a:endParaRPr lang="en-US" sz="2100" dirty="0"/>
          </a:p>
        </p:txBody>
      </p:sp>
      <p:sp>
        <p:nvSpPr>
          <p:cNvPr id="37" name="Text 29"/>
          <p:cNvSpPr/>
          <p:nvPr/>
        </p:nvSpPr>
        <p:spPr>
          <a:xfrm>
            <a:off x="6240780" y="4663440"/>
            <a:ext cx="1583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MQLs</a:t>
            </a:r>
            <a:endParaRPr lang="en-US" sz="9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1648" y="4480560"/>
            <a:ext cx="182880" cy="182880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8071104" y="4114800"/>
            <a:ext cx="1674876" cy="914400"/>
          </a:xfrm>
          <a:prstGeom prst="roundRect">
            <a:avLst>
              <a:gd name="adj" fmla="val 10000"/>
            </a:avLst>
          </a:prstGeom>
          <a:solidFill>
            <a:srgbClr val="001A4D"/>
          </a:solidFill>
          <a:ln w="12700">
            <a:solidFill>
              <a:srgbClr val="008FC4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8071104" y="4233672"/>
            <a:ext cx="1674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280</a:t>
            </a:r>
            <a:endParaRPr lang="en-US" sz="2100" dirty="0"/>
          </a:p>
        </p:txBody>
      </p:sp>
      <p:sp>
        <p:nvSpPr>
          <p:cNvPr id="41" name="Text 32"/>
          <p:cNvSpPr/>
          <p:nvPr/>
        </p:nvSpPr>
        <p:spPr>
          <a:xfrm>
            <a:off x="8116824" y="4663440"/>
            <a:ext cx="1583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 / demos</a:t>
            </a:r>
            <a:endParaRPr lang="en-US" sz="90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7692" y="4480560"/>
            <a:ext cx="182880" cy="18288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9947148" y="4114800"/>
            <a:ext cx="1674876" cy="914400"/>
          </a:xfrm>
          <a:prstGeom prst="roundRect">
            <a:avLst>
              <a:gd name="adj" fmla="val 10000"/>
            </a:avLst>
          </a:prstGeom>
          <a:solidFill>
            <a:srgbClr val="001A4D"/>
          </a:solidFill>
          <a:ln w="12700">
            <a:solidFill>
              <a:srgbClr val="008FC4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47148" y="4233672"/>
            <a:ext cx="1674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58</a:t>
            </a:r>
            <a:endParaRPr lang="en-US" sz="2100" dirty="0"/>
          </a:p>
        </p:txBody>
      </p:sp>
      <p:sp>
        <p:nvSpPr>
          <p:cNvPr id="45" name="Text 35"/>
          <p:cNvSpPr/>
          <p:nvPr/>
        </p:nvSpPr>
        <p:spPr>
          <a:xfrm>
            <a:off x="9992868" y="4663440"/>
            <a:ext cx="1583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live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566928" y="5440680"/>
            <a:ext cx="171815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566928" y="5440680"/>
            <a:ext cx="17181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Sign-up rate 6.0%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2486254" y="5440680"/>
            <a:ext cx="2115922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2486254" y="5440680"/>
            <a:ext cx="2115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CAC ₹52,000 / merchant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4803343" y="5440680"/>
            <a:ext cx="2195474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4803343" y="5440680"/>
            <a:ext cx="21954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LTV:CAC ≈ 2.7:1 (12-mo)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7199986" y="5440680"/>
            <a:ext cx="4741164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7199986" y="5440680"/>
            <a:ext cx="4741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In-month realised ROAS ≈ 0.4× (fintech payback: 4–6 mo)</a:t>
            </a:r>
            <a:endParaRPr lang="en-US" sz="1000" dirty="0"/>
          </a:p>
        </p:txBody>
      </p:sp>
      <p:sp>
        <p:nvSpPr>
          <p:cNvPr id="54" name="Text 44"/>
          <p:cNvSpPr/>
          <p:nvPr/>
        </p:nvSpPr>
        <p:spPr>
          <a:xfrm>
            <a:off x="566928" y="6053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figures, modelled on 2025–26 Indian B2B / fintech ad benchmarks. ROAS shown is projected (LTV-based), not in-month realised.</a:t>
            </a:r>
            <a:endParaRPr lang="en-US" sz="950" dirty="0"/>
          </a:p>
        </p:txBody>
      </p:sp>
      <p:sp>
        <p:nvSpPr>
          <p:cNvPr id="55" name="Text 4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Velocity API  ·  Mock B2B Campaign Brief</a:t>
            </a:r>
            <a:pPr algn="l" indent="0" marL="0">
              <a:buNone/>
            </a:pPr>
            <a:r>
              <a:rPr lang="en-US" sz="850" i="1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(fictional product — illustrative figures)</a:t>
            </a:r>
            <a:endParaRPr lang="en-US" sz="850" dirty="0"/>
          </a:p>
        </p:txBody>
      </p:sp>
      <p:sp>
        <p:nvSpPr>
          <p:cNvPr id="56" name="Text 4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7E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002970"/>
          </a:solidFill>
          <a:ln/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54864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99616" y="457200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These Numbers Make Sense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5096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1463040"/>
                <a:gridCol w="1234440"/>
                <a:gridCol w="914400"/>
                <a:gridCol w="914400"/>
                <a:gridCol w="1188720"/>
                <a:gridCol w="2596896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Sign-ups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7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29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₹12.0L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ABM · decision-makers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29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₹10.5L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2.98M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+ retargeting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29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₹7.5L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High-intent capture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₹30.0L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3.91M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44,990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Full-funnel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FC4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66928" y="4114800"/>
            <a:ext cx="347167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66928" y="4114800"/>
            <a:ext cx="3471672" cy="91440"/>
          </a:xfrm>
          <a:prstGeom prst="rect">
            <a:avLst/>
          </a:prstGeom>
          <a:solidFill>
            <a:srgbClr val="008FC4"/>
          </a:solidFill>
          <a:ln/>
        </p:spPr>
      </p:sp>
      <p:sp>
        <p:nvSpPr>
          <p:cNvPr id="9" name="Shape 5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008FC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450799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35608" y="4389120"/>
            <a:ext cx="2465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CTR 1.15% — a realistic mix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822960" y="5029200"/>
            <a:ext cx="2968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sponsored content runs 0.4–0.6% in India; Meta B2B ~1.1%; Google Search ~4.2% on high-intent terms. Weighted by spend, the blend lands at 1.15%.</a:t>
            </a:r>
            <a:endParaRPr lang="en-US" sz="1080" dirty="0"/>
          </a:p>
        </p:txBody>
      </p:sp>
      <p:sp>
        <p:nvSpPr>
          <p:cNvPr id="13" name="Shape 8"/>
          <p:cNvSpPr/>
          <p:nvPr/>
        </p:nvSpPr>
        <p:spPr>
          <a:xfrm>
            <a:off x="4358640" y="4114800"/>
            <a:ext cx="347167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358640" y="4114800"/>
            <a:ext cx="3471672" cy="91440"/>
          </a:xfrm>
          <a:prstGeom prst="rect">
            <a:avLst/>
          </a:prstGeom>
          <a:solidFill>
            <a:srgbClr val="002970"/>
          </a:solidFill>
          <a:ln/>
        </p:spPr>
      </p:sp>
      <p:sp>
        <p:nvSpPr>
          <p:cNvPr id="15" name="Shape 10"/>
          <p:cNvSpPr/>
          <p:nvPr/>
        </p:nvSpPr>
        <p:spPr>
          <a:xfrm>
            <a:off x="4614672" y="4389120"/>
            <a:ext cx="502920" cy="502920"/>
          </a:xfrm>
          <a:prstGeom prst="ellipse">
            <a:avLst/>
          </a:prstGeom>
          <a:solidFill>
            <a:srgbClr val="00297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544" y="4507992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7320" y="4389120"/>
            <a:ext cx="2465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CPC ₹67 — Indian B2B economics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4614672" y="5029200"/>
            <a:ext cx="2968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LinkedIn CPC is ₹150–650 (fintech pushes the top end); Meta ₹10–40; Google payment-gateway keywords ₹60–180. The cheap-reach/expensive-intent mix averages to ₹67.</a:t>
            </a:r>
            <a:endParaRPr lang="en-US" sz="1080" dirty="0"/>
          </a:p>
        </p:txBody>
      </p:sp>
      <p:sp>
        <p:nvSpPr>
          <p:cNvPr id="19" name="Shape 13"/>
          <p:cNvSpPr/>
          <p:nvPr/>
        </p:nvSpPr>
        <p:spPr>
          <a:xfrm>
            <a:off x="8150352" y="4114800"/>
            <a:ext cx="347167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4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150352" y="4114800"/>
            <a:ext cx="3471672" cy="91440"/>
          </a:xfrm>
          <a:prstGeom prst="rect">
            <a:avLst/>
          </a:prstGeom>
          <a:solidFill>
            <a:srgbClr val="1FB271"/>
          </a:solidFill>
          <a:ln/>
        </p:spPr>
      </p:sp>
      <p:sp>
        <p:nvSpPr>
          <p:cNvPr id="21" name="Shape 15"/>
          <p:cNvSpPr/>
          <p:nvPr/>
        </p:nvSpPr>
        <p:spPr>
          <a:xfrm>
            <a:off x="8406384" y="4389120"/>
            <a:ext cx="502920" cy="502920"/>
          </a:xfrm>
          <a:prstGeom prst="ellipse">
            <a:avLst/>
          </a:prstGeom>
          <a:solidFill>
            <a:srgbClr val="1FB27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5256" y="450799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019032" y="4389120"/>
            <a:ext cx="2465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9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ROAS 4.2× — LTV-driven, not in-month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8406384" y="5029200"/>
            <a:ext cx="2968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P2M is zero-MDR, so revenue is platform fees + cross-sell to cards/EMI/VAS. 58 live + ~32 weighted-pipeline ≈ 90 merchants × ~₹1.4L first-year value ≈ ₹1.26Cr vs ₹30L. Payback is 4–6 months — month-1 realised ROAS is ~0.4× by design.</a:t>
            </a:r>
            <a:endParaRPr lang="en-US" sz="1080" dirty="0"/>
          </a:p>
        </p:txBody>
      </p:sp>
      <p:sp>
        <p:nvSpPr>
          <p:cNvPr id="25" name="Text 1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Velocity API  ·  Mock B2B Campaign Brief</a:t>
            </a:r>
            <a:pPr algn="l" indent="0" marL="0">
              <a:buNone/>
            </a:pPr>
            <a:r>
              <a:rPr lang="en-US" sz="850" i="1" dirty="0">
                <a:solidFill>
                  <a:srgbClr val="6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(fictional product — illustrative figures)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7E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1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566160"/>
            <a:ext cx="4754880" cy="4754880"/>
          </a:xfrm>
          <a:prstGeom prst="ellipse">
            <a:avLst/>
          </a:prstGeom>
          <a:solidFill>
            <a:srgbClr val="00297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008FC4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6692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0BAF2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548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51206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Paytm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942832" y="603504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12345A"/>
          </a:solidFill>
          <a:ln/>
        </p:spPr>
      </p:sp>
      <p:sp>
        <p:nvSpPr>
          <p:cNvPr id="8" name="Text 6"/>
          <p:cNvSpPr/>
          <p:nvPr/>
        </p:nvSpPr>
        <p:spPr>
          <a:xfrm>
            <a:off x="8942832" y="60350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MOCK CAMPAIGN · FICTIONAL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build.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66928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this brief to live in two weeks.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66928" y="3520440"/>
            <a:ext cx="457200" cy="457200"/>
          </a:xfrm>
          <a:prstGeom prst="ellipse">
            <a:avLst/>
          </a:prstGeom>
          <a:solidFill>
            <a:srgbClr val="00BAF2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3630168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25296" y="34747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3 creatives in Canva/Figma from the spec sheets (Slides 6–8).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4178808"/>
            <a:ext cx="457200" cy="457200"/>
          </a:xfrm>
          <a:prstGeom prst="ellipse">
            <a:avLst/>
          </a:prstGeom>
          <a:solidFill>
            <a:srgbClr val="00BAF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4288536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25296" y="413308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tracking: Meta Pixel + CAPI, LinkedIn Insight Tag, GA4; build sandbox sign-up &amp; demo flows.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66928" y="4837176"/>
            <a:ext cx="457200" cy="457200"/>
          </a:xfrm>
          <a:prstGeom prst="ellipse">
            <a:avLst/>
          </a:prstGeom>
          <a:solidFill>
            <a:srgbClr val="00BAF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94690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25296" y="479145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2-week test (~₹6L) across all 3 channels; optimise to CPL → activation, not clicks.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66928" y="5495544"/>
            <a:ext cx="457200" cy="457200"/>
          </a:xfrm>
          <a:prstGeom prst="ellipse">
            <a:avLst/>
          </a:prstGeom>
          <a:solidFill>
            <a:srgbClr val="00BAF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560527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25296" y="544982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winning ad-sets &amp; keywords; shift budget to the lowest cost-per-activated-merchant.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66928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illustrative, grounded in 2025–26 Indian B2B / fintech ad benchmarks (LinkedIn, Meta, Google). Paytm Velocity API is a fictional product for this exercise.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Paytm Velocity API — Campaign Brief</dc:title>
  <dc:subject>PptxGenJS Presentation</dc:subject>
  <dc:creator>B2B Media Planning</dc:creator>
  <cp:lastModifiedBy>B2B Media Planning</cp:lastModifiedBy>
  <cp:revision>1</cp:revision>
  <dcterms:created xsi:type="dcterms:W3CDTF">2026-06-09T19:44:42Z</dcterms:created>
  <dcterms:modified xsi:type="dcterms:W3CDTF">2026-06-09T19:44:42Z</dcterms:modified>
</cp:coreProperties>
</file>